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1"/>
  </p:notesMasterIdLst>
  <p:sldIdLst>
    <p:sldId id="256" r:id="rId2"/>
    <p:sldId id="260" r:id="rId3"/>
    <p:sldId id="261" r:id="rId4"/>
    <p:sldId id="284" r:id="rId5"/>
    <p:sldId id="262" r:id="rId6"/>
    <p:sldId id="286" r:id="rId7"/>
    <p:sldId id="287" r:id="rId8"/>
    <p:sldId id="289" r:id="rId9"/>
    <p:sldId id="288" r:id="rId10"/>
    <p:sldId id="305" r:id="rId11"/>
    <p:sldId id="290" r:id="rId12"/>
    <p:sldId id="291" r:id="rId13"/>
    <p:sldId id="295" r:id="rId14"/>
    <p:sldId id="296" r:id="rId15"/>
    <p:sldId id="297" r:id="rId16"/>
    <p:sldId id="298" r:id="rId17"/>
    <p:sldId id="299" r:id="rId18"/>
    <p:sldId id="302" r:id="rId19"/>
    <p:sldId id="304" r:id="rId20"/>
  </p:sldIdLst>
  <p:sldSz cx="9144000" cy="5143500" type="screen16x9"/>
  <p:notesSz cx="6797675" cy="9928225"/>
  <p:embeddedFontLst>
    <p:embeddedFont>
      <p:font typeface="Roboto" panose="020B0604020202020204" charset="0"/>
      <p:regular r:id="rId22"/>
      <p:bold r:id="rId23"/>
      <p:italic r:id="rId24"/>
      <p:boldItalic r:id="rId25"/>
    </p:embeddedFont>
    <p:embeddedFont>
      <p:font typeface="Roboto Medium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462DE2-D5A3-4CDD-EBFB-944871D754D4}" name="Alexey Bobkov" initials="AB" userId="ae247658a4236d9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2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46DF7B-7A70-4925-A6E4-9D116640902E}">
  <a:tblStyle styleId="{6546DF7B-7A70-4925-A6E4-9D11664090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47" autoAdjust="0"/>
  </p:normalViewPr>
  <p:slideViewPr>
    <p:cSldViewPr snapToGrid="0">
      <p:cViewPr varScale="1">
        <p:scale>
          <a:sx n="106" d="100"/>
          <a:sy n="106" d="100"/>
        </p:scale>
        <p:origin x="778" y="77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46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Начало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69734B48-827A-8491-D1AA-47F2A732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>
            <a:extLst>
              <a:ext uri="{FF2B5EF4-FFF2-40B4-BE49-F238E27FC236}">
                <a16:creationId xmlns:a16="http://schemas.microsoft.com/office/drawing/2014/main" id="{0C638BF9-C26A-CCA7-DA9A-95828B6D70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>
            <a:extLst>
              <a:ext uri="{FF2B5EF4-FFF2-40B4-BE49-F238E27FC236}">
                <a16:creationId xmlns:a16="http://schemas.microsoft.com/office/drawing/2014/main" id="{2A018684-EBC3-F54B-3AAD-186610C083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1765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692F512C-BEDF-17C4-5879-46E685BE1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3862FD63-42B9-FFA3-5F26-4EAB652336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4BFBECE7-B445-4CBC-8F85-AB9068413C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8521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ECECCB5C-37FF-D2B3-9FC0-DAA4DD7BD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47C2F977-0153-4239-4828-266E495838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972C376C-DD27-D5E0-76AA-26EBB5DF7D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0254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456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06B6FEB2-87F5-E596-6C2C-691588F75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7B4C66A1-5B40-5EED-DA82-FBC0AB8D6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8BD06824-F64C-7907-EC6A-7404DFEEA1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452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06B6FEB2-87F5-E596-6C2C-691588F75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7B4C66A1-5B40-5EED-DA82-FBC0AB8D6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8BD06824-F64C-7907-EC6A-7404DFEEA1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3813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76531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ru-RU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6583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48614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0AF8D-A31A-56E9-B6C6-56D5E0F79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577C1FF-2A0F-C5DC-B4B7-DE7510719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9E01FE0-21C9-91A0-FC80-EC0814618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10850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AF8F4-30DD-FC80-33D2-B7376231D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2DB01D4-9A30-7EB8-51E1-C80C2C67D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C835F21-5FD1-652F-EBE5-1F855A98C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7233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11831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79411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89735-BEB5-ED95-D236-2DB2B3D00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2745377-0B4C-E9B6-79D8-F7B81CFF0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9DB8BFE-F57D-8B68-855D-F87CA1A01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2939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663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49" y="-1"/>
            <a:ext cx="921995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329400" y="782419"/>
            <a:ext cx="85479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Проектирование </a:t>
            </a:r>
            <a:r>
              <a:rPr lang="en-US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Multisite</a:t>
            </a:r>
            <a:r>
              <a:rPr lang="ru-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сети ЦОД на базе технологии EVPN-VXLAN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699" y="4138025"/>
            <a:ext cx="4019325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796385" y="4127432"/>
            <a:ext cx="3685951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ru-RU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Дизайн сетей ЦОД</a:t>
            </a:r>
            <a:endParaRPr lang="en-US"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7424" y="3130728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40764" y="140685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 dirty="0"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проекта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946812-0D8B-1170-D64B-51B95562A0A5}"/>
              </a:ext>
            </a:extLst>
          </p:cNvPr>
          <p:cNvSpPr txBox="1"/>
          <p:nvPr/>
        </p:nvSpPr>
        <p:spPr>
          <a:xfrm>
            <a:off x="839096" y="1344706"/>
            <a:ext cx="7813357" cy="2183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Clr>
                <a:srgbClr val="0070C0"/>
              </a:buClr>
              <a:buSzPct val="120000"/>
              <a:buFont typeface="+mj-lt"/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Разработать масштабируемую архитектуру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Multisite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ЦОД</a:t>
            </a:r>
          </a:p>
          <a:p>
            <a:pPr marL="342900" indent="-342900">
              <a:lnSpc>
                <a:spcPct val="200000"/>
              </a:lnSpc>
              <a:buClr>
                <a:srgbClr val="0070C0"/>
              </a:buClr>
              <a:buSzPct val="120000"/>
              <a:buFont typeface="+mj-lt"/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Реализовать отказоустойчивый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underlay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lnSpc>
                <a:spcPct val="200000"/>
              </a:lnSpc>
              <a:buClr>
                <a:srgbClr val="0070C0"/>
              </a:buClr>
              <a:buSzPct val="120000"/>
              <a:buFont typeface="+mj-lt"/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Реализовать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мультихоминг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(EVPN Ethernet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Segment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для серверов</a:t>
            </a:r>
          </a:p>
          <a:p>
            <a:pPr marL="342900" indent="-342900">
              <a:lnSpc>
                <a:spcPct val="200000"/>
              </a:lnSpc>
              <a:buClr>
                <a:srgbClr val="0070C0"/>
              </a:buClr>
              <a:buSzPct val="120000"/>
              <a:buFont typeface="+mj-lt"/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Подтвердить работоспособность и отказоустойчивость спроектированного решения</a:t>
            </a:r>
          </a:p>
          <a:p>
            <a:pPr marL="342900" indent="-342900">
              <a:lnSpc>
                <a:spcPct val="200000"/>
              </a:lnSpc>
              <a:buClr>
                <a:srgbClr val="0070C0"/>
              </a:buClr>
              <a:buSzPct val="120000"/>
              <a:buFont typeface="+mj-lt"/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Выводы и заключение.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технологии использовались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81A6FB27-FBAF-D308-7FDE-B60F50F410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768947"/>
              </p:ext>
            </p:extLst>
          </p:nvPr>
        </p:nvGraphicFramePr>
        <p:xfrm>
          <a:off x="420935" y="1085999"/>
          <a:ext cx="8600215" cy="3967480"/>
        </p:xfrm>
        <a:graphic>
          <a:graphicData uri="http://schemas.openxmlformats.org/drawingml/2006/table">
            <a:tbl>
              <a:tblPr firstRow="1" bandRow="1">
                <a:tableStyleId>{6546DF7B-7A70-4925-A6E4-9D116640902E}</a:tableStyleId>
              </a:tblPr>
              <a:tblGrid>
                <a:gridCol w="2370455">
                  <a:extLst>
                    <a:ext uri="{9D8B030D-6E8A-4147-A177-3AD203B41FA5}">
                      <a16:colId xmlns:a16="http://schemas.microsoft.com/office/drawing/2014/main" val="861065292"/>
                    </a:ext>
                  </a:extLst>
                </a:gridCol>
                <a:gridCol w="2571585">
                  <a:extLst>
                    <a:ext uri="{9D8B030D-6E8A-4147-A177-3AD203B41FA5}">
                      <a16:colId xmlns:a16="http://schemas.microsoft.com/office/drawing/2014/main" val="1402841970"/>
                    </a:ext>
                  </a:extLst>
                </a:gridCol>
                <a:gridCol w="3658175">
                  <a:extLst>
                    <a:ext uri="{9D8B030D-6E8A-4147-A177-3AD203B41FA5}">
                      <a16:colId xmlns:a16="http://schemas.microsoft.com/office/drawing/2014/main" val="2220627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Группа технологий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Конкретные технологии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Задача в проекте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780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Underlay</a:t>
                      </a:r>
                      <a:endParaRPr lang="ru-RU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• IPv6</a:t>
                      </a:r>
                      <a:br>
                        <a:rPr lang="en-US" dirty="0"/>
                      </a:b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• BGP (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eBGP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 с peer-group</a:t>
                      </a:r>
                      <a:br>
                        <a:rPr lang="en-US" dirty="0"/>
                      </a:b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• ECMP (equal-cost multipath)</a:t>
                      </a:r>
                      <a:br>
                        <a:rPr lang="en-US" dirty="0"/>
                      </a:b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•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eBGP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route server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• BFD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Построение масштабируемой и отказоустойчивой физической основы сети. Обеспечение IP-связности между всеми узлами фабрики (</a:t>
                      </a:r>
                      <a:r>
                        <a:rPr lang="ru-RU" b="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Loopback</a:t>
                      </a:r>
                      <a:r>
                        <a:rPr lang="ru-RU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-адресами) без необходимости назначать IP на каждый P2P-линк. Балансировка трафика между несколькими путями.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503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Overlay</a:t>
                      </a:r>
                      <a:endParaRPr lang="ru-RU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• VXLAN (RFC 7348)</a:t>
                      </a:r>
                    </a:p>
                    <a:p>
                      <a:r>
                        <a:rPr lang="en-US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• UDP </a:t>
                      </a:r>
                      <a:r>
                        <a:rPr lang="ru-RU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порт 4789</a:t>
                      </a:r>
                      <a:endParaRPr lang="en-US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r>
                        <a:rPr lang="en-US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• EVPN (RFC 7432)</a:t>
                      </a:r>
                    </a:p>
                    <a:p>
                      <a:r>
                        <a:rPr lang="en-US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• MP-BGP </a:t>
                      </a:r>
                      <a:r>
                        <a:rPr lang="ru-RU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с </a:t>
                      </a:r>
                      <a:r>
                        <a:rPr lang="en-US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address-family l2vpn </a:t>
                      </a:r>
                      <a:r>
                        <a:rPr lang="en-US" b="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evpn</a:t>
                      </a:r>
                      <a:endParaRPr lang="en-US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r>
                        <a:rPr lang="en-US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• Route Target / Route Distinguisher</a:t>
                      </a:r>
                      <a:endParaRPr lang="ru-RU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Инкапсуляция трафика клиентов (L2 и L3) и его передача через общую транспортную сеть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Underlay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 Распределение информации о доступности MAC-адресов, маршрутов и политик между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Leaf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-коммутаторами. Обеспечение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мультитенантности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и управление VXLAN-туннелями.</a:t>
                      </a:r>
                      <a:endParaRPr lang="ru-RU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63228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3CC69025-B30A-AB6D-C3B1-5791580A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>
            <a:extLst>
              <a:ext uri="{FF2B5EF4-FFF2-40B4-BE49-F238E27FC236}">
                <a16:creationId xmlns:a16="http://schemas.microsoft.com/office/drawing/2014/main" id="{4B048C3F-B7E2-8310-8BCC-E39B04F26C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технологии использовались</a:t>
            </a:r>
            <a:r>
              <a:rPr lang="en-US" sz="3000" dirty="0"/>
              <a:t> </a:t>
            </a:r>
            <a:r>
              <a:rPr lang="en-US" sz="2000" dirty="0"/>
              <a:t>(</a:t>
            </a:r>
            <a:r>
              <a:rPr lang="ru-RU" sz="2000" dirty="0"/>
              <a:t>продолжение</a:t>
            </a:r>
            <a:r>
              <a:rPr lang="en-US" sz="2000" dirty="0"/>
              <a:t>)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5693751E-5215-5992-E61C-66B7385A2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979139"/>
              </p:ext>
            </p:extLst>
          </p:nvPr>
        </p:nvGraphicFramePr>
        <p:xfrm>
          <a:off x="420935" y="1085999"/>
          <a:ext cx="8600215" cy="1742440"/>
        </p:xfrm>
        <a:graphic>
          <a:graphicData uri="http://schemas.openxmlformats.org/drawingml/2006/table">
            <a:tbl>
              <a:tblPr firstRow="1" bandRow="1">
                <a:tableStyleId>{6546DF7B-7A70-4925-A6E4-9D116640902E}</a:tableStyleId>
              </a:tblPr>
              <a:tblGrid>
                <a:gridCol w="2370455">
                  <a:extLst>
                    <a:ext uri="{9D8B030D-6E8A-4147-A177-3AD203B41FA5}">
                      <a16:colId xmlns:a16="http://schemas.microsoft.com/office/drawing/2014/main" val="861065292"/>
                    </a:ext>
                  </a:extLst>
                </a:gridCol>
                <a:gridCol w="2571585">
                  <a:extLst>
                    <a:ext uri="{9D8B030D-6E8A-4147-A177-3AD203B41FA5}">
                      <a16:colId xmlns:a16="http://schemas.microsoft.com/office/drawing/2014/main" val="1402841970"/>
                    </a:ext>
                  </a:extLst>
                </a:gridCol>
                <a:gridCol w="3658175">
                  <a:extLst>
                    <a:ext uri="{9D8B030D-6E8A-4147-A177-3AD203B41FA5}">
                      <a16:colId xmlns:a16="http://schemas.microsoft.com/office/drawing/2014/main" val="2220627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Группа технологий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Конкретные технологии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Задача в проекте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780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Мультихоминг</a:t>
                      </a:r>
                      <a:endParaRPr lang="ru-RU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• EVPN Ethernet Segment (ESI)</a:t>
                      </a:r>
                    </a:p>
                    <a:p>
                      <a:r>
                        <a:rPr lang="en-US" b="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• LACP (Link Aggregation Control Protocol)</a:t>
                      </a:r>
                      <a:endParaRPr lang="ru-RU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Подключение серверов к двум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Leaf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-коммутаторам одновременно (активное-активное резервирование). Повышение отказоустойчивости и пропускной способности доступа. Автоматическое переключение трафика при отказах.</a:t>
                      </a:r>
                      <a:endParaRPr lang="ru-RU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632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059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15064" y="0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Схема сети, построенная в </a:t>
            </a:r>
            <a:r>
              <a:rPr lang="en-US" sz="3000" dirty="0"/>
              <a:t>GNS3</a:t>
            </a:r>
            <a:endParaRPr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8393C6-A911-A256-3006-7B526168C8E2}"/>
              </a:ext>
            </a:extLst>
          </p:cNvPr>
          <p:cNvSpPr txBox="1"/>
          <p:nvPr/>
        </p:nvSpPr>
        <p:spPr>
          <a:xfrm>
            <a:off x="108336" y="3821762"/>
            <a:ext cx="827738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Элементы схемы:</a:t>
            </a:r>
            <a:endParaRPr lang="ru-RU" dirty="0"/>
          </a:p>
          <a:p>
            <a:endParaRPr lang="ru-RU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В качестве </a:t>
            </a:r>
            <a:r>
              <a:rPr lang="en-US" dirty="0"/>
              <a:t>Spine, Leaf, BGW, Route-Server</a:t>
            </a:r>
            <a:r>
              <a:rPr lang="ru-RU" dirty="0"/>
              <a:t> использованы образы коммутаторов </a:t>
            </a:r>
            <a:r>
              <a:rPr lang="en-US" dirty="0"/>
              <a:t>ARISTA  </a:t>
            </a:r>
            <a:r>
              <a:rPr lang="en-US" dirty="0" err="1"/>
              <a:t>vEOS</a:t>
            </a:r>
            <a:r>
              <a:rPr lang="en-US" dirty="0"/>
              <a:t>-lab, EOS-4.29.2F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В качестве компьютеров используются</a:t>
            </a:r>
            <a:r>
              <a:rPr lang="en-US" dirty="0"/>
              <a:t> Ubuntu Cloud 22.04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87E45B-02A5-484F-A1CC-35C1B8CB3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36" y="476834"/>
            <a:ext cx="8520600" cy="3265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4B909146-C4DB-9ACE-215C-CD466C14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70E9E1EC-C078-EB8D-DB2C-6CDBD16206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005" y="162055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Underlay </a:t>
            </a:r>
            <a:r>
              <a:rPr lang="ru-RU" dirty="0"/>
              <a:t>сеть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4489BA-E43D-4918-99E9-6E15BD317ABF}"/>
              </a:ext>
            </a:extLst>
          </p:cNvPr>
          <p:cNvSpPr txBox="1"/>
          <p:nvPr/>
        </p:nvSpPr>
        <p:spPr>
          <a:xfrm>
            <a:off x="707304" y="1534466"/>
            <a:ext cx="80467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Два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site</a:t>
            </a: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Site</a:t>
            </a: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 и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Site</a:t>
            </a: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2)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— для построение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underlay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-сети в рамках каждого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Site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используется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eBGP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связность между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Site-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ами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обеспечивает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Route Server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Между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Site1-DCI-Site2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настроен также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eBGP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Коммутаторы </a:t>
            </a:r>
            <a:r>
              <a:rPr lang="ru-RU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Spine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(по 2 в каждом поде) — образуют ядро фабрики, соединяя все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Leaf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-коммутаторы в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полносвязную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топологию (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full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mesh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Коммутаторы </a:t>
            </a:r>
            <a:r>
              <a:rPr lang="ru-RU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Leaf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(по 4 в каждом поде) — к ним подключаются серверы и пограничные маршрутизаторы.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Border</a:t>
            </a: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Leaf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(по 2 в каждом поде) — выделенные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Leaf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-коммутаторы, отвечающие за взаимодействие между подами. Отличаются от стандартных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Leaf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отсутствием клиентских подключений и наличием связности с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route-server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Route server –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обеспечивает связность между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Site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ами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0C2CE3-53BB-3037-62B7-F2351A2425E8}"/>
              </a:ext>
            </a:extLst>
          </p:cNvPr>
          <p:cNvSpPr txBox="1"/>
          <p:nvPr/>
        </p:nvSpPr>
        <p:spPr>
          <a:xfrm>
            <a:off x="636493" y="710006"/>
            <a:ext cx="421127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Топология 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Underlay</a:t>
            </a:r>
          </a:p>
          <a:p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80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166E1B86-4246-897E-84AE-54A119E7E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BE906819-256A-A4D6-133F-264BC97DD8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005" y="162055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Underlay </a:t>
            </a:r>
            <a:r>
              <a:rPr lang="ru-RU" dirty="0"/>
              <a:t>сеть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FF3C19-08C4-E735-4B7A-70F042391E7E}"/>
              </a:ext>
            </a:extLst>
          </p:cNvPr>
          <p:cNvSpPr txBox="1"/>
          <p:nvPr/>
        </p:nvSpPr>
        <p:spPr>
          <a:xfrm>
            <a:off x="742278" y="1042511"/>
            <a:ext cx="80467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Используется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iBGP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внутри каждого пода (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remote-as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совпадает с собственным номером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BGP-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сессии устанавливаются через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IPv6 link-local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адреса с помощью конструкции 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neighbor interface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что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полность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ю исключает необходимость назначения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IP-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адресов на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P2P-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линки.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Применяются 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peer-group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pg_SPINE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pg_LIAF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унификации настроек и упрощения конфигурации.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address-family IPv4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активированы соседи с опциями:</a:t>
            </a:r>
          </a:p>
          <a:p>
            <a:pPr lvl="4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next-hop address-family ipv6 originate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—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следующий хоп передаётся 	как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IPv6-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адрес;</a:t>
            </a:r>
          </a:p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next-hop-self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— Leaf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анонсирует себя как следующий хоп для достижения 	клиентских сетей.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BDB5F6-8614-33C6-23F7-4E2A74A535F3}"/>
              </a:ext>
            </a:extLst>
          </p:cNvPr>
          <p:cNvSpPr txBox="1"/>
          <p:nvPr/>
        </p:nvSpPr>
        <p:spPr>
          <a:xfrm>
            <a:off x="419005" y="3641546"/>
            <a:ext cx="8152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Loopback-</a:t>
            </a:r>
            <a:r>
              <a:rPr lang="ru-RU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интерфейсы</a:t>
            </a:r>
            <a:b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ru-RU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AF6D18-548F-1AEE-38A9-52CC1A04283F}"/>
              </a:ext>
            </a:extLst>
          </p:cNvPr>
          <p:cNvSpPr txBox="1"/>
          <p:nvPr/>
        </p:nvSpPr>
        <p:spPr>
          <a:xfrm>
            <a:off x="636493" y="710005"/>
            <a:ext cx="5292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Протокол маршрутизации 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BGP</a:t>
            </a:r>
            <a:br>
              <a:rPr lang="en-US" dirty="0"/>
            </a:b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FAA9F8-42EE-8C14-3328-1004E0C6100F}"/>
              </a:ext>
            </a:extLst>
          </p:cNvPr>
          <p:cNvSpPr txBox="1"/>
          <p:nvPr/>
        </p:nvSpPr>
        <p:spPr>
          <a:xfrm>
            <a:off x="892884" y="4052673"/>
            <a:ext cx="80467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Каждое устройство имеет Loopback0 с адресом /32 (например, 10.1.0.1 для Leaf-1-1, 10.1.1.1 для Spine-1-1).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Loopback-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адреса анонсируются в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iBGP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через 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redistribute connected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5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006064-FF93-02CB-7329-B930F66CD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реализованного </a:t>
            </a:r>
            <a:r>
              <a:rPr lang="en-US" dirty="0"/>
              <a:t>Underlay</a:t>
            </a:r>
            <a:br>
              <a:rPr lang="en-US" dirty="0"/>
            </a:br>
            <a:br>
              <a:rPr lang="en-US" b="0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B4562B-B72B-77FD-3C98-F4372E91B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Упрощение эксплуатации</a:t>
            </a:r>
            <a:r>
              <a:rPr lang="ru-RU" dirty="0"/>
              <a:t> — единый шаблон конфигурации для всех линков, не требуется индивидуальный IP-план для P2P-соединений.</a:t>
            </a:r>
          </a:p>
          <a:p>
            <a:r>
              <a:rPr lang="ru-RU" b="1" dirty="0"/>
              <a:t>Экономия адресного пространства</a:t>
            </a:r>
            <a:r>
              <a:rPr lang="ru-RU" dirty="0"/>
              <a:t> — не тратятся ценные IPv4-адреса на транзитные линки.</a:t>
            </a:r>
          </a:p>
          <a:p>
            <a:r>
              <a:rPr lang="ru-RU" b="1" dirty="0"/>
              <a:t>Масштабируемость</a:t>
            </a:r>
            <a:r>
              <a:rPr lang="ru-RU" dirty="0"/>
              <a:t> — добавление новых </a:t>
            </a:r>
            <a:r>
              <a:rPr lang="ru-RU" dirty="0" err="1"/>
              <a:t>Leaf</a:t>
            </a:r>
            <a:r>
              <a:rPr lang="ru-RU" dirty="0"/>
              <a:t> не требует переконфигурации </a:t>
            </a:r>
            <a:r>
              <a:rPr lang="ru-RU" dirty="0" err="1"/>
              <a:t>Spine</a:t>
            </a:r>
            <a:r>
              <a:rPr lang="ru-RU" dirty="0"/>
              <a:t> (BGP сам устанавливает соседства по </a:t>
            </a:r>
            <a:r>
              <a:rPr lang="ru-RU" dirty="0" err="1"/>
              <a:t>link-local</a:t>
            </a:r>
            <a:r>
              <a:rPr lang="ru-RU" dirty="0"/>
              <a:t> адресам)</a:t>
            </a:r>
          </a:p>
          <a:p>
            <a:r>
              <a:rPr lang="ru-RU" b="1" dirty="0"/>
              <a:t>Отказоустойчивость</a:t>
            </a:r>
            <a:r>
              <a:rPr lang="ru-RU" dirty="0"/>
              <a:t> — использование ECMP и быстрая сходимость BGP обеспечивают непрерывность связи при отказах.</a:t>
            </a:r>
          </a:p>
          <a:p>
            <a:r>
              <a:rPr lang="ru-RU" b="1" dirty="0"/>
              <a:t>Простота автоматизации</a:t>
            </a:r>
            <a:r>
              <a:rPr lang="ru-RU" dirty="0"/>
              <a:t> — все </a:t>
            </a:r>
            <a:r>
              <a:rPr lang="ru-RU" dirty="0" err="1"/>
              <a:t>Underlay</a:t>
            </a:r>
            <a:r>
              <a:rPr lang="ru-RU" dirty="0"/>
              <a:t>-интерфейсы конфигурируются идентично, что идеально подходит для шаблонов автоматизации (</a:t>
            </a:r>
            <a:r>
              <a:rPr lang="ru-RU" dirty="0" err="1"/>
              <a:t>Ansible</a:t>
            </a:r>
            <a:r>
              <a:rPr lang="ru-RU" dirty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300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FFA4B249-3D8C-6ECD-7A9D-AA4B31E1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9EE6BDEF-3D92-EF18-FA94-C1C08DA8FF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005" y="162055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Overlay </a:t>
            </a:r>
            <a:r>
              <a:rPr lang="ru-RU" dirty="0"/>
              <a:t>сеть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632F3F-2A80-D706-0A2E-983C3627EBC4}"/>
              </a:ext>
            </a:extLst>
          </p:cNvPr>
          <p:cNvSpPr txBox="1"/>
          <p:nvPr/>
        </p:nvSpPr>
        <p:spPr>
          <a:xfrm>
            <a:off x="742278" y="930008"/>
            <a:ext cx="80467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ru-RU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VXLAN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- VXLAN-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туннели строятся между всеми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Leaf-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коммутаторами фабрики. Источник —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Loopback0, UDP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порт 4789.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- MP-BGP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address-family l2vpn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L2VNI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- VNI 10010 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 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VLAN 10, VNI 10020 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 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VLAN 20, VNI 10030 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 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VLAN 30.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L3VNI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- VNI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10100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 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VRF Tenant (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VRF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- VRF RED (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клиенты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VLAN10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VLAN20), VRF BLUE (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клиент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VLAN30).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Anycast Gateway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-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 каждом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Leaf: SVI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 одинаковым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 виртуальным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MAC-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адресом 02:00:00:00:00:00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FDD26F-D9B0-AD9A-C3E3-8B942236FD13}"/>
              </a:ext>
            </a:extLst>
          </p:cNvPr>
          <p:cNvSpPr txBox="1"/>
          <p:nvPr/>
        </p:nvSpPr>
        <p:spPr>
          <a:xfrm>
            <a:off x="591671" y="3161829"/>
            <a:ext cx="8152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Мультихоминг</a:t>
            </a:r>
            <a:endParaRPr lang="ru-RU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E6D195-B81A-C520-6EFD-80746423CA07}"/>
              </a:ext>
            </a:extLst>
          </p:cNvPr>
          <p:cNvSpPr txBox="1"/>
          <p:nvPr/>
        </p:nvSpPr>
        <p:spPr>
          <a:xfrm>
            <a:off x="636493" y="710005"/>
            <a:ext cx="5292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Архитектурные компоненты 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Overlay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441C34-C29E-9B22-820F-2B393AB63E73}"/>
              </a:ext>
            </a:extLst>
          </p:cNvPr>
          <p:cNvSpPr txBox="1"/>
          <p:nvPr/>
        </p:nvSpPr>
        <p:spPr>
          <a:xfrm>
            <a:off x="742278" y="3516213"/>
            <a:ext cx="804672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серверов, подключённых к двум </a:t>
            </a:r>
            <a:r>
              <a:rPr lang="en-US" dirty="0"/>
              <a:t>Leaf </a:t>
            </a:r>
            <a:r>
              <a:rPr lang="ru-RU" dirty="0"/>
              <a:t>через </a:t>
            </a:r>
            <a:r>
              <a:rPr lang="en-US" b="1" dirty="0"/>
              <a:t>ESI-LAG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Оба </a:t>
            </a:r>
            <a:r>
              <a:rPr lang="en-US" dirty="0"/>
              <a:t>Leaf </a:t>
            </a:r>
            <a:r>
              <a:rPr lang="ru-RU" dirty="0"/>
              <a:t>анонсируют один и тот же </a:t>
            </a:r>
            <a:r>
              <a:rPr lang="en-US" dirty="0"/>
              <a:t>Ethernet Segment (</a:t>
            </a:r>
            <a:r>
              <a:rPr lang="ru-RU" dirty="0"/>
              <a:t>с одинаковым </a:t>
            </a:r>
            <a:r>
              <a:rPr lang="en-US" dirty="0"/>
              <a:t>ESI).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EVPN Type-1</a:t>
            </a:r>
            <a:r>
              <a:rPr lang="en-US" dirty="0"/>
              <a:t> (Ethernet Auto-discovery) </a:t>
            </a:r>
            <a:r>
              <a:rPr lang="ru-RU" dirty="0"/>
              <a:t>маршруты синхронизируют состояние сегмента.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Для </a:t>
            </a:r>
            <a:r>
              <a:rPr lang="en-US" dirty="0"/>
              <a:t>BUM-</a:t>
            </a:r>
            <a:r>
              <a:rPr lang="ru-RU" dirty="0"/>
              <a:t>трафика (</a:t>
            </a:r>
            <a:r>
              <a:rPr lang="en-US" dirty="0"/>
              <a:t>broadcast, unknown unicast, multicast) </a:t>
            </a:r>
            <a:r>
              <a:rPr lang="ru-RU" dirty="0"/>
              <a:t>выбирается </a:t>
            </a:r>
            <a:r>
              <a:rPr lang="en-US" dirty="0"/>
              <a:t>Designated Forwarder (</a:t>
            </a:r>
            <a:r>
              <a:rPr lang="ru-RU" dirty="0"/>
              <a:t>алгоритм </a:t>
            </a:r>
            <a:r>
              <a:rPr lang="en-US" dirty="0"/>
              <a:t>modulus </a:t>
            </a:r>
            <a:r>
              <a:rPr lang="ru-RU" dirty="0"/>
              <a:t>по умолчанию), чтобы избежать дублирования.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3003015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FFA4B249-3D8C-6ECD-7A9D-AA4B31E1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9EE6BDEF-3D92-EF18-FA94-C1C08DA8FF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005" y="162055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Overlay </a:t>
            </a:r>
            <a:r>
              <a:rPr lang="ru-RU" dirty="0"/>
              <a:t>сеть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632F3F-2A80-D706-0A2E-983C3627EBC4}"/>
              </a:ext>
            </a:extLst>
          </p:cNvPr>
          <p:cNvSpPr txBox="1"/>
          <p:nvPr/>
        </p:nvSpPr>
        <p:spPr>
          <a:xfrm>
            <a:off x="636493" y="1627287"/>
            <a:ext cx="80467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ru-RU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VRF –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Vrf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Tenant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В данной схеме рассматривается подключение к фабрике клиентских устройств, которые принадлежат единственному клиенту, т.е. юрлицу, в связи с этим они объединены в общий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VRF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VXLAN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- VXLAN-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туннели строятся между всеми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Leaf-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коммутаторами фабрики. Источник —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Loopback0, UDP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порт 4789.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- MP-BGP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address-family l2vpn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L2VNI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- VNI 10010 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 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VLAN 10, VNI 10020 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 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VLAN 20, VNI 10030 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 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VLAN 30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т.д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L3VNI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- VNI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10100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 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VRF Tenant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Anycast Gateway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-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 данной схеме мы предполагаем, что время отсутствия сервиса крайне критично для приложений, расположенных на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Ce1-s1, Ce2-s1, Ce1-s2, Ce2-s2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В связи с этим, схема резервирования Настроена на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Leaf1-s1+Leaf2-s1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 на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Leaf2-s1+Leaf2-s2: SVI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 одинаковым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 виртуальным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MAC-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адресом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E6D195-B81A-C520-6EFD-80746423CA07}"/>
              </a:ext>
            </a:extLst>
          </p:cNvPr>
          <p:cNvSpPr txBox="1"/>
          <p:nvPr/>
        </p:nvSpPr>
        <p:spPr>
          <a:xfrm>
            <a:off x="636493" y="710005"/>
            <a:ext cx="5292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Архитектурные компоненты 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Overlay</a:t>
            </a:r>
          </a:p>
        </p:txBody>
      </p:sp>
    </p:spTree>
    <p:extLst>
      <p:ext uri="{BB962C8B-B14F-4D97-AF65-F5344CB8AC3E}">
        <p14:creationId xmlns:p14="http://schemas.microsoft.com/office/powerpoint/2010/main" val="344958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7BCB52-2518-29B6-7AA5-F6AB2BB4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реализованного </a:t>
            </a:r>
            <a:r>
              <a:rPr lang="en-US" dirty="0"/>
              <a:t>Overlay</a:t>
            </a:r>
            <a:br>
              <a:rPr lang="en-US" dirty="0"/>
            </a:br>
            <a:br>
              <a:rPr lang="en-US" b="0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DA7685-15DC-4232-7EEE-2F18D6FE2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Масштабируемость</a:t>
            </a:r>
            <a:r>
              <a:rPr lang="ru-RU" dirty="0"/>
              <a:t> — до 16 млн VNI против 4096 VLAN, возможность добавления новых клиентов без изменения физической сети.</a:t>
            </a:r>
          </a:p>
          <a:p>
            <a:r>
              <a:rPr lang="ru-RU" b="1" dirty="0"/>
              <a:t>Оптимальная маршрутизация</a:t>
            </a:r>
            <a:r>
              <a:rPr lang="ru-RU" dirty="0"/>
              <a:t> — </a:t>
            </a:r>
            <a:r>
              <a:rPr lang="ru-RU" dirty="0" err="1"/>
              <a:t>Anycast</a:t>
            </a:r>
            <a:r>
              <a:rPr lang="ru-RU" dirty="0"/>
              <a:t> Gateway позволяет трафику выходить на ближайший </a:t>
            </a:r>
            <a:r>
              <a:rPr lang="ru-RU" dirty="0" err="1"/>
              <a:t>Leaf</a:t>
            </a:r>
            <a:r>
              <a:rPr lang="ru-RU" dirty="0"/>
              <a:t>, избегая "трафика-футбола" (</a:t>
            </a:r>
            <a:r>
              <a:rPr lang="ru-RU" dirty="0" err="1"/>
              <a:t>traffic</a:t>
            </a:r>
            <a:r>
              <a:rPr lang="ru-RU" dirty="0"/>
              <a:t> </a:t>
            </a:r>
            <a:r>
              <a:rPr lang="ru-RU" dirty="0" err="1"/>
              <a:t>tromboning</a:t>
            </a:r>
            <a:r>
              <a:rPr lang="ru-RU" dirty="0"/>
              <a:t>).</a:t>
            </a:r>
          </a:p>
          <a:p>
            <a:r>
              <a:rPr lang="ru-RU" b="1" dirty="0"/>
              <a:t>Отказоустойчивость</a:t>
            </a:r>
            <a:r>
              <a:rPr lang="ru-RU" dirty="0"/>
              <a:t> — при отказе </a:t>
            </a:r>
            <a:r>
              <a:rPr lang="ru-RU" dirty="0" err="1"/>
              <a:t>Leaf</a:t>
            </a:r>
            <a:r>
              <a:rPr lang="ru-RU" dirty="0"/>
              <a:t> его функции шлюза мгновенно подхватывают другие </a:t>
            </a:r>
            <a:r>
              <a:rPr lang="ru-RU" dirty="0" err="1"/>
              <a:t>Leaf</a:t>
            </a:r>
            <a:r>
              <a:rPr lang="ru-RU" dirty="0"/>
              <a:t> благодаря виртуальному MAC и IP.</a:t>
            </a:r>
          </a:p>
          <a:p>
            <a:r>
              <a:rPr lang="ru-RU" b="1" dirty="0"/>
              <a:t>Поддержка </a:t>
            </a:r>
            <a:r>
              <a:rPr lang="ru-RU" b="1" dirty="0" err="1"/>
              <a:t>мультихоминга</a:t>
            </a:r>
            <a:r>
              <a:rPr lang="ru-RU" dirty="0"/>
              <a:t> — активное-активное подключение серверов с автоматическим переключением при отказах.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2990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1D4901-61CE-169A-6A64-2BA4B0BB5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Межсайтовое взаимодействие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055720-D525-A3DA-4B0F-6772E61B7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1975" y="1159707"/>
            <a:ext cx="8020050" cy="3416400"/>
          </a:xfrm>
        </p:spPr>
        <p:txBody>
          <a:bodyPr>
            <a:normAutofit/>
          </a:bodyPr>
          <a:lstStyle/>
          <a:p>
            <a:pPr marL="133350" indent="0">
              <a:buNone/>
            </a:pPr>
            <a:r>
              <a:rPr lang="ru-RU" sz="1400" b="1" dirty="0"/>
              <a:t>Архитектурный подход</a:t>
            </a:r>
          </a:p>
          <a:p>
            <a:pPr marL="133350" indent="0">
              <a:buNone/>
            </a:pPr>
            <a:r>
              <a:rPr lang="ru-RU" sz="1400" dirty="0"/>
              <a:t>Для связности между сайтами используется </a:t>
            </a:r>
            <a:r>
              <a:rPr lang="en-US" sz="1400" dirty="0"/>
              <a:t>Route Server</a:t>
            </a:r>
            <a:r>
              <a:rPr lang="ru-RU" sz="1400" dirty="0"/>
              <a:t> в отдельной </a:t>
            </a:r>
            <a:r>
              <a:rPr lang="en-US" sz="1400" dirty="0"/>
              <a:t>AS</a:t>
            </a:r>
            <a:r>
              <a:rPr lang="ru-RU" sz="1400" dirty="0"/>
              <a:t>, </a:t>
            </a:r>
            <a:r>
              <a:rPr lang="ru-RU" sz="1400" dirty="0" err="1"/>
              <a:t>соединный</a:t>
            </a:r>
            <a:r>
              <a:rPr lang="ru-RU" sz="1400" dirty="0"/>
              <a:t> с </a:t>
            </a:r>
            <a:r>
              <a:rPr lang="en-US" sz="1400" dirty="0"/>
              <a:t>Border Leaf’</a:t>
            </a:r>
            <a:r>
              <a:rPr lang="ru-RU" sz="1400" dirty="0" err="1"/>
              <a:t>ами</a:t>
            </a:r>
            <a:r>
              <a:rPr lang="ru-RU" sz="1400" dirty="0"/>
              <a:t> в обоих сайтах</a:t>
            </a:r>
          </a:p>
          <a:p>
            <a:pPr marL="133350" indent="0">
              <a:buNone/>
            </a:pPr>
            <a:r>
              <a:rPr lang="ru-RU" sz="1400" dirty="0"/>
              <a:t>Особенности подхода:</a:t>
            </a:r>
          </a:p>
          <a:p>
            <a:r>
              <a:rPr lang="ru-RU" sz="1400" b="1" dirty="0"/>
              <a:t>Простота</a:t>
            </a:r>
            <a:r>
              <a:rPr lang="ru-RU" sz="1400" dirty="0"/>
              <a:t> - </a:t>
            </a:r>
            <a:r>
              <a:rPr lang="en-US" sz="1400" dirty="0"/>
              <a:t>Router Server </a:t>
            </a:r>
            <a:r>
              <a:rPr lang="ru-RU" sz="1400" dirty="0"/>
              <a:t>в </a:t>
            </a:r>
            <a:r>
              <a:rPr lang="en-US" sz="1400" dirty="0" err="1"/>
              <a:t>eBGP</a:t>
            </a:r>
            <a:r>
              <a:rPr lang="ru-RU" sz="1400" dirty="0"/>
              <a:t> выполняет функцию, аналогичную </a:t>
            </a:r>
            <a:r>
              <a:rPr lang="en-US" sz="1400" dirty="0"/>
              <a:t>Router Reflector </a:t>
            </a:r>
            <a:r>
              <a:rPr lang="ru-RU" sz="1400" dirty="0"/>
              <a:t>в </a:t>
            </a:r>
            <a:r>
              <a:rPr lang="en-US" sz="1400" dirty="0" err="1"/>
              <a:t>iBPG</a:t>
            </a:r>
            <a:r>
              <a:rPr lang="ru-RU" sz="1400" dirty="0"/>
              <a:t>. В терминологии </a:t>
            </a:r>
            <a:r>
              <a:rPr lang="en-US" sz="1400" dirty="0" err="1"/>
              <a:t>iBGP</a:t>
            </a:r>
            <a:r>
              <a:rPr lang="en-US" sz="1400" dirty="0"/>
              <a:t> </a:t>
            </a:r>
            <a:r>
              <a:rPr lang="ru-RU" sz="1400" dirty="0"/>
              <a:t>можно было бы сказать, что </a:t>
            </a:r>
            <a:r>
              <a:rPr lang="en-US" sz="1400" dirty="0"/>
              <a:t>Border Leaf</a:t>
            </a:r>
            <a:r>
              <a:rPr lang="ru-RU" sz="1400" dirty="0"/>
              <a:t>ы являются </a:t>
            </a:r>
            <a:r>
              <a:rPr lang="en-US" sz="1400" dirty="0"/>
              <a:t>route client</a:t>
            </a:r>
            <a:r>
              <a:rPr lang="ru-RU" sz="1400" dirty="0" err="1"/>
              <a:t>ами</a:t>
            </a:r>
            <a:r>
              <a:rPr lang="ru-RU" sz="1400" dirty="0"/>
              <a:t> для </a:t>
            </a:r>
            <a:r>
              <a:rPr lang="en-US" sz="1400" dirty="0"/>
              <a:t>Router Server</a:t>
            </a:r>
            <a:r>
              <a:rPr lang="ru-RU" sz="1400" dirty="0"/>
              <a:t>.</a:t>
            </a:r>
          </a:p>
          <a:p>
            <a:r>
              <a:rPr lang="ru-RU" sz="1400" b="1" dirty="0"/>
              <a:t>Изоляция</a:t>
            </a:r>
            <a:r>
              <a:rPr lang="ru-RU" sz="1400" dirty="0"/>
              <a:t> - Каждый сайт сохраняет полную независимость</a:t>
            </a:r>
          </a:p>
          <a:p>
            <a:r>
              <a:rPr lang="ru-RU" sz="1400" b="1" dirty="0"/>
              <a:t>Предсказуемость</a:t>
            </a:r>
            <a:r>
              <a:rPr lang="ru-RU" sz="1400" dirty="0"/>
              <a:t> Чёткое разделение зон ответственности, простой контроль над распространяемыми маршрутами.</a:t>
            </a:r>
          </a:p>
          <a:p>
            <a:r>
              <a:rPr lang="ru-RU" sz="1400" b="1" dirty="0"/>
              <a:t>Безопасность</a:t>
            </a:r>
            <a:r>
              <a:rPr lang="ru-RU" sz="1400" dirty="0"/>
              <a:t> Легко фильтровать префиксы и контролировать трафик между подами.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36219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B9DD6B-EB9D-F6D4-09FD-5D3C9B3FD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работоспособности</a:t>
            </a:r>
            <a:br>
              <a:rPr lang="ru-RU" dirty="0"/>
            </a:br>
            <a:br>
              <a:rPr lang="ru-RU" b="0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544308-E0C8-27C8-E0D9-45936E838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284692"/>
            <a:ext cx="8520600" cy="3416400"/>
          </a:xfrm>
        </p:spPr>
        <p:txBody>
          <a:bodyPr/>
          <a:lstStyle/>
          <a:p>
            <a:pPr marL="133350" indent="0">
              <a:buNone/>
            </a:pPr>
            <a:r>
              <a:rPr lang="en-US" b="1" dirty="0"/>
              <a:t>BGP </a:t>
            </a:r>
            <a:r>
              <a:rPr lang="ru-RU" b="1" dirty="0"/>
              <a:t>соседство </a:t>
            </a:r>
            <a:r>
              <a:rPr lang="en-US" b="1" i="1" dirty="0"/>
              <a:t>Spine-1-1</a:t>
            </a:r>
            <a:endParaRPr lang="en-US" b="1" dirty="0"/>
          </a:p>
          <a:p>
            <a:pPr marL="13335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778B93-27B5-EAEB-3698-C6D8BBBC5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66" y="1793343"/>
            <a:ext cx="8354168" cy="254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86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D3844-FD43-D368-712C-5722B5C29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CFC728-C5CF-E0DB-898A-FD28F0990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работоспособности</a:t>
            </a:r>
            <a:br>
              <a:rPr lang="ru-RU" dirty="0"/>
            </a:br>
            <a:br>
              <a:rPr lang="ru-RU" b="0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F9F755-F275-B502-5469-D09CF9D60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284692"/>
            <a:ext cx="8520600" cy="3416400"/>
          </a:xfrm>
        </p:spPr>
        <p:txBody>
          <a:bodyPr/>
          <a:lstStyle/>
          <a:p>
            <a:pPr marL="133350" indent="0">
              <a:buNone/>
            </a:pPr>
            <a:r>
              <a:rPr lang="ru-RU" b="1" dirty="0" err="1"/>
              <a:t>ping</a:t>
            </a:r>
            <a:r>
              <a:rPr lang="ru-RU" b="1" dirty="0"/>
              <a:t> от </a:t>
            </a:r>
            <a:r>
              <a:rPr lang="en-US" b="1" dirty="0"/>
              <a:t>Ce4-s1 </a:t>
            </a:r>
            <a:r>
              <a:rPr lang="ru-RU" b="1" dirty="0"/>
              <a:t>до </a:t>
            </a:r>
            <a:r>
              <a:rPr lang="en-US" b="1" dirty="0"/>
              <a:t>Ce2-s2</a:t>
            </a:r>
            <a:endParaRPr lang="ru-RU" b="1" dirty="0"/>
          </a:p>
          <a:p>
            <a:pPr marL="133350" indent="0"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0724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E2127-A024-E4C7-A64A-B69482E5D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2F4E70-3E67-F061-AA3A-874FDDF35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работоспособности</a:t>
            </a:r>
            <a:br>
              <a:rPr lang="ru-RU" dirty="0"/>
            </a:br>
            <a:br>
              <a:rPr lang="ru-RU" b="0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8BB8E5-101E-CB64-647B-86B764F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284692"/>
            <a:ext cx="8520600" cy="3416400"/>
          </a:xfrm>
        </p:spPr>
        <p:txBody>
          <a:bodyPr/>
          <a:lstStyle/>
          <a:p>
            <a:pPr marL="133350" indent="0">
              <a:buNone/>
            </a:pPr>
            <a:r>
              <a:rPr lang="en-US" b="1" dirty="0"/>
              <a:t>ping Ce1-s1 </a:t>
            </a:r>
            <a:r>
              <a:rPr lang="ru-RU" b="1" dirty="0"/>
              <a:t>до </a:t>
            </a:r>
            <a:r>
              <a:rPr lang="en-US" b="1" dirty="0"/>
              <a:t>Ce3-s2</a:t>
            </a:r>
          </a:p>
          <a:p>
            <a:pPr marL="133350" indent="0"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76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B32E5-230C-1808-EA27-36C6FBFAA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работоспособности</a:t>
            </a:r>
            <a:br>
              <a:rPr lang="ru-RU" dirty="0"/>
            </a:b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A4C07-328B-E7F2-39BD-6C8D3CAD65D3}"/>
              </a:ext>
            </a:extLst>
          </p:cNvPr>
          <p:cNvSpPr txBox="1"/>
          <p:nvPr/>
        </p:nvSpPr>
        <p:spPr>
          <a:xfrm>
            <a:off x="705971" y="878674"/>
            <a:ext cx="51700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Проверка отказоустойчивости </a:t>
            </a:r>
            <a:r>
              <a:rPr lang="ru-RU" sz="1800" b="1" i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Мультихоминг</a:t>
            </a:r>
            <a:endParaRPr lang="ru-RU" sz="18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329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B32E5-230C-1808-EA27-36C6FBFAA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работоспособности</a:t>
            </a:r>
            <a:br>
              <a:rPr lang="ru-RU" dirty="0"/>
            </a:b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A4C07-328B-E7F2-39BD-6C8D3CAD65D3}"/>
              </a:ext>
            </a:extLst>
          </p:cNvPr>
          <p:cNvSpPr txBox="1"/>
          <p:nvPr/>
        </p:nvSpPr>
        <p:spPr>
          <a:xfrm>
            <a:off x="705971" y="878674"/>
            <a:ext cx="4733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Проверка отказоустойчивости </a:t>
            </a:r>
            <a:r>
              <a:rPr lang="en-US" sz="1800" b="1" i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BorderLeaf</a:t>
            </a:r>
            <a:endParaRPr lang="en-US" sz="18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1250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6EC1A-18AD-FB8E-D719-F986A7000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C8D862-7626-89A3-CDBC-9FB5DAD3F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не получилось</a:t>
            </a:r>
            <a:br>
              <a:rPr lang="ru-RU" dirty="0"/>
            </a:br>
            <a:br>
              <a:rPr lang="ru-RU" b="0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031050-E7C5-32CC-D1C1-11E80F0B7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>
              <a:buNone/>
            </a:pPr>
            <a:r>
              <a:rPr lang="ru-RU" sz="1800" b="1" dirty="0"/>
              <a:t>Настроить </a:t>
            </a:r>
            <a:r>
              <a:rPr lang="en-US" sz="1800" b="1" dirty="0"/>
              <a:t>domain remote</a:t>
            </a:r>
            <a:endParaRPr lang="ru-RU" sz="1800" b="1" dirty="0"/>
          </a:p>
          <a:p>
            <a:pPr marL="133350" indent="0">
              <a:buNone/>
            </a:pPr>
            <a:r>
              <a:rPr lang="ru-RU" dirty="0"/>
              <a:t>На используемом образе </a:t>
            </a:r>
            <a:r>
              <a:rPr lang="en-US" dirty="0" err="1"/>
              <a:t>vEOS</a:t>
            </a:r>
            <a:r>
              <a:rPr lang="ru-RU" dirty="0"/>
              <a:t> отсутствовала команда</a:t>
            </a:r>
            <a:r>
              <a:rPr lang="en-US" dirty="0"/>
              <a:t> “domain ASN:N remote”</a:t>
            </a:r>
            <a:endParaRPr lang="ru-RU" dirty="0"/>
          </a:p>
          <a:p>
            <a:pPr marL="133350" indent="0">
              <a:buNone/>
            </a:pPr>
            <a:r>
              <a:rPr lang="ru-RU" b="1" dirty="0"/>
              <a:t>Симптомы:</a:t>
            </a:r>
            <a:r>
              <a:rPr lang="ru-RU" dirty="0"/>
              <a:t> в таблицах </a:t>
            </a:r>
            <a:r>
              <a:rPr lang="ru-RU" dirty="0" err="1"/>
              <a:t>маршрутации</a:t>
            </a:r>
            <a:r>
              <a:rPr lang="ru-RU" dirty="0"/>
              <a:t> на </a:t>
            </a:r>
            <a:r>
              <a:rPr lang="en-US" dirty="0"/>
              <a:t>border leaf</a:t>
            </a:r>
            <a:r>
              <a:rPr lang="ru-RU" dirty="0"/>
              <a:t> произошло удвоение маршрутов – для одного и того же маршрута существовала копия без метки «</a:t>
            </a:r>
            <a:r>
              <a:rPr lang="en-US" dirty="0"/>
              <a:t>remote</a:t>
            </a:r>
            <a:r>
              <a:rPr lang="ru-RU" dirty="0"/>
              <a:t>» и с меткой «</a:t>
            </a:r>
            <a:r>
              <a:rPr lang="en-US" dirty="0"/>
              <a:t>remote</a:t>
            </a:r>
            <a:r>
              <a:rPr lang="ru-RU" dirty="0"/>
              <a:t>»</a:t>
            </a:r>
          </a:p>
          <a:p>
            <a:pPr marL="133350" indent="0">
              <a:buNone/>
            </a:pPr>
            <a:r>
              <a:rPr lang="ru-RU" b="1" dirty="0"/>
              <a:t>Вероятные причины </a:t>
            </a:r>
            <a:r>
              <a:rPr lang="ru-RU" dirty="0"/>
              <a:t>в устаревшей версии </a:t>
            </a:r>
            <a:r>
              <a:rPr lang="en-US" dirty="0" err="1"/>
              <a:t>vEOS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944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C0A587-D1DD-B956-BFEF-8BC6F1632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 и заключение</a:t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33D0AD-EC68-70DB-FB02-3DDE185DA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021976"/>
            <a:ext cx="8520600" cy="3820893"/>
          </a:xfrm>
        </p:spPr>
        <p:txBody>
          <a:bodyPr/>
          <a:lstStyle/>
          <a:p>
            <a:pPr marL="133350" indent="0">
              <a:buNone/>
            </a:pPr>
            <a:r>
              <a:rPr lang="ru-RU" dirty="0"/>
              <a:t>В ходе выполнения данной работы была спроектирована и реализована </a:t>
            </a:r>
            <a:r>
              <a:rPr lang="ru-RU" dirty="0" err="1"/>
              <a:t>мультисайтовая</a:t>
            </a:r>
            <a:r>
              <a:rPr lang="ru-RU" dirty="0"/>
              <a:t> сеть ЦОД на базе современных технологий EVPN и VXLAN.</a:t>
            </a:r>
          </a:p>
          <a:p>
            <a:r>
              <a:rPr lang="ru-RU" b="1" dirty="0"/>
              <a:t>Разработана масштабируемая архитектура </a:t>
            </a:r>
            <a:r>
              <a:rPr lang="ru-RU" b="1" dirty="0" err="1"/>
              <a:t>мультиподового</a:t>
            </a:r>
            <a:r>
              <a:rPr lang="ru-RU" b="1" dirty="0"/>
              <a:t> ЦОД</a:t>
            </a:r>
          </a:p>
          <a:p>
            <a:r>
              <a:rPr lang="ru-RU" b="1" dirty="0"/>
              <a:t>Реализован отказоустойчивый </a:t>
            </a:r>
            <a:r>
              <a:rPr lang="ru-RU" b="1" dirty="0" err="1"/>
              <a:t>underlay</a:t>
            </a:r>
            <a:r>
              <a:rPr lang="ru-RU" b="1" dirty="0"/>
              <a:t> на базе </a:t>
            </a:r>
            <a:r>
              <a:rPr lang="en-US" b="1" dirty="0" err="1"/>
              <a:t>eBGP</a:t>
            </a:r>
            <a:endParaRPr lang="en-US" b="1" dirty="0"/>
          </a:p>
          <a:p>
            <a:r>
              <a:rPr lang="ru-RU" b="1" dirty="0"/>
              <a:t>Реализован </a:t>
            </a:r>
            <a:r>
              <a:rPr lang="ru-RU" b="1" dirty="0" err="1"/>
              <a:t>мультихоминг</a:t>
            </a:r>
            <a:r>
              <a:rPr lang="ru-RU" b="1" dirty="0"/>
              <a:t> (</a:t>
            </a:r>
            <a:r>
              <a:rPr lang="en-US" b="1" dirty="0"/>
              <a:t>EVPN Ethernet Segment)</a:t>
            </a:r>
            <a:endParaRPr lang="ru-RU" b="1" dirty="0"/>
          </a:p>
          <a:p>
            <a:r>
              <a:rPr lang="ru-RU" b="1" dirty="0"/>
              <a:t>Организовано контролируемое межсайтовое взаимодействие</a:t>
            </a:r>
          </a:p>
          <a:p>
            <a:r>
              <a:rPr lang="ru-RU" b="1" dirty="0"/>
              <a:t>Подтверждена работоспособность и отказоустойчивость решения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325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2700</TotalTime>
  <Words>1273</Words>
  <Application>Microsoft Office PowerPoint</Application>
  <PresentationFormat>Экран (16:9)</PresentationFormat>
  <Paragraphs>120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Roboto Medium</vt:lpstr>
      <vt:lpstr>Courier New</vt:lpstr>
      <vt:lpstr>Wingdings</vt:lpstr>
      <vt:lpstr>Roboto</vt:lpstr>
      <vt:lpstr>Светлая тема</vt:lpstr>
      <vt:lpstr>Презентация PowerPoint</vt:lpstr>
      <vt:lpstr>Презентация PowerPoint</vt:lpstr>
      <vt:lpstr>Какие технологии использовались </vt:lpstr>
      <vt:lpstr>Какие технологии использовались (продолжение) </vt:lpstr>
      <vt:lpstr>Схема сети, построенная в GNS3</vt:lpstr>
      <vt:lpstr>Underlay сеть</vt:lpstr>
      <vt:lpstr>Underlay сеть</vt:lpstr>
      <vt:lpstr>Преимущества реализованного Underlay  </vt:lpstr>
      <vt:lpstr>Overlay сеть</vt:lpstr>
      <vt:lpstr>Overlay сеть</vt:lpstr>
      <vt:lpstr>Преимущества реализованного Overlay  </vt:lpstr>
      <vt:lpstr>Межсайтовое взаимодействие</vt:lpstr>
      <vt:lpstr>Проверка работоспособности  </vt:lpstr>
      <vt:lpstr>Проверка работоспособности  </vt:lpstr>
      <vt:lpstr>Проверка работоспособности  </vt:lpstr>
      <vt:lpstr>Проверка работоспособности </vt:lpstr>
      <vt:lpstr>Проверка работоспособности </vt:lpstr>
      <vt:lpstr>Что не получилось  </vt:lpstr>
      <vt:lpstr>Выводы и заключение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Соловьев Даниил</cp:lastModifiedBy>
  <cp:revision>58</cp:revision>
  <cp:lastPrinted>2026-03-15T09:52:40Z</cp:lastPrinted>
  <dcterms:modified xsi:type="dcterms:W3CDTF">2026-07-01T10:47:45Z</dcterms:modified>
</cp:coreProperties>
</file>